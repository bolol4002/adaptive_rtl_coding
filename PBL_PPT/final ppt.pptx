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  <p:sldMasterId id="2147483672" r:id="rId3"/>
  </p:sldMasterIdLst>
  <p:notesMasterIdLst>
    <p:notesMasterId r:id="rId1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9316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62580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5428305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17986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69074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49104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958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294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3866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057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78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758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D70375-3E93-17B7-7A01-AB1B2917C8E9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09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5439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23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37829C-FE31-A8D4-F889-29ED3470238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101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953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18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B999AB-A81A-5C50-CE27-DC772E35AE0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193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6932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149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6D6421-6AA2-B44E-BCA1-C10BB4C70BB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229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702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089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0C2A93-6108-C9B2-9710-77DB33D2C99E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216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308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576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529648-83AA-0EEB-45B4-9EFE26D844BA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431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15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790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D9BAFE-D749-1CD0-83B7-6C03139EBED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78640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501831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712918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51704416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13361242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74497365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078475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068683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8246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84285147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004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837147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784322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455595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933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49794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47774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421237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047947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0582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264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276644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66871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057674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46678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9412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8129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67167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769785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4197074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7285526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722501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126634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0488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1306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9159291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2447337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3759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59050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0007174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4896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333286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439376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70687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284872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547249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9081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78090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3293752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3452818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037789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380393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132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104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8967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828644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82927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407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7736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5591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85406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458638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0009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454316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88201436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1865250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11335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494617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77421107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14157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52701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224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2010129895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6842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939587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038007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15422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8703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36872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399608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423619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9839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5466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885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439159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94549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257735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8237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5098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261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794633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625998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914893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347698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9440405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495118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7871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9127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275299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095758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0501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15506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91627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8666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776473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7344136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826128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04254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09415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297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19548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327501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990025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36059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849200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8476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7944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1044407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979824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113073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63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4891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942030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80458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09251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4762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33424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25169078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07160040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0319109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85730781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242903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692242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321898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669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878238548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782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79831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05786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738463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273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061676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114415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033336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96368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1433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972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165387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839383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83851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332641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5427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07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115208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10261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23238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026040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848436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5527165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10085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7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070759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317244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2963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3289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176716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7300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69138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630291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486210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126405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906389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7524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3137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086440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76721689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361447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58864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2241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5589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2630489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243598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154117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310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38632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01233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734101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976193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5583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66219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06982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19765005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7924021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18543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20073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8474858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79395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34427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3035920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27569861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3141240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27074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701141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077879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97266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70477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6071104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90699279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2451428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31735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36553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308329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49310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416776" name="Title 1"/>
          <p:cNvSpPr>
            <a:spLocks noGrp="1"/>
          </p:cNvSpPr>
          <p:nvPr>
            <p:ph type="ctrTitle"/>
          </p:nvPr>
        </p:nvSpPr>
        <p:spPr bwMode="auto">
          <a:xfrm>
            <a:off x="1523999" y="436919"/>
            <a:ext cx="9144000" cy="2387599"/>
          </a:xfrm>
        </p:spPr>
        <p:txBody>
          <a:bodyPr/>
          <a:lstStyle/>
          <a:p>
            <a:pPr algn="ctr">
              <a:defRPr/>
            </a:pPr>
            <a:r>
              <a:rPr sz="2400" b="1">
                <a:solidFill>
                  <a:schemeClr val="tx1"/>
                </a:solidFill>
                <a:ea typeface="Times New Roman"/>
              </a:rPr>
              <a:t>Adaptive RTL Control Unit for Power-Aware </a:t>
            </a:r>
            <a:r>
              <a:rPr sz="2400" b="1">
                <a:solidFill>
                  <a:schemeClr val="tx1"/>
                </a:solidFill>
                <a:ea typeface="Times New Roman"/>
              </a:rPr>
              <a:t>Control Unit</a:t>
            </a:r>
            <a:endParaRPr sz="2400" b="1">
              <a:solidFill>
                <a:schemeClr val="tx1"/>
              </a:solidFill>
            </a:endParaRPr>
          </a:p>
        </p:txBody>
      </p:sp>
      <p:sp>
        <p:nvSpPr>
          <p:cNvPr id="1605031290" name="Subtitle 2"/>
          <p:cNvSpPr>
            <a:spLocks noGrp="1"/>
          </p:cNvSpPr>
          <p:nvPr>
            <p:ph type="subTitle" idx="1"/>
          </p:nvPr>
        </p:nvSpPr>
        <p:spPr bwMode="auto">
          <a:xfrm>
            <a:off x="2601126" y="4429918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r">
              <a:defRPr/>
            </a:pPr>
            <a:r>
              <a:rPr lang="en-IN">
                <a:solidFill>
                  <a:schemeClr val="tx1"/>
                </a:solidFill>
              </a:rPr>
              <a:t>  – Sayooj S</a:t>
            </a:r>
            <a:endParaRPr>
              <a:solidFill>
                <a:schemeClr val="tx1"/>
              </a:solidFill>
            </a:endParaRPr>
          </a:p>
          <a:p>
            <a:pPr marL="349965" indent="-349965" algn="r">
              <a:buFont typeface="Arial"/>
              <a:buChar char="–"/>
              <a:defRPr/>
            </a:pPr>
            <a:r>
              <a:rPr lang="en-IN">
                <a:solidFill>
                  <a:schemeClr val="tx1"/>
                </a:solidFill>
              </a:rPr>
              <a:t>Rizwan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4938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090619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Fixed RTL control units lack adaptability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 and performance requirements vary at runtime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High-performance designs waste power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Power-optimized designs limit speed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Need for RTL-level adaptive control logic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26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4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8482090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 propose an adaptive control unit that switches between two RTL implementations: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Low-Power Mode: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Uses sequential decoding to minimize switching activity 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High-Performance Mode: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Uses parallel decoding for faster execution 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Both modes generate identical control signals, ensuring no functional difference while enabling runtime optimization.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4177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4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 Overview</a:t>
            </a:r>
            <a:endParaRPr sz="4400"/>
          </a:p>
        </p:txBody>
      </p:sp>
      <p:sp>
        <p:nvSpPr>
          <p:cNvPr id="20535761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takes opcode, mode, clock, and reset as inputs. It contains two internal control units and a multiplexer to select the output.</a:t>
            </a:r>
            <a:endParaRPr sz="2800"/>
          </a:p>
          <a:p>
            <a:pPr marL="0" indent="0">
              <a:buFont typeface="Arial"/>
              <a:buNone/>
              <a:defRPr/>
            </a:pP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Low-Power block → sequential logic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High-Performance block → parallel logic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MUX selects output based on mode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9587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45875" y="90821"/>
            <a:ext cx="10336523" cy="6695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4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Performance and Power Results</a:t>
            </a:r>
            <a:endParaRPr sz="4400" b="1"/>
          </a:p>
        </p:txBody>
      </p:sp>
      <p:pic>
        <p:nvPicPr>
          <p:cNvPr id="2313379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5460" y="760328"/>
            <a:ext cx="7178025" cy="3244270"/>
          </a:xfrm>
          <a:prstGeom prst="rect">
            <a:avLst/>
          </a:prstGeom>
        </p:spPr>
      </p:pic>
      <p:pic>
        <p:nvPicPr>
          <p:cNvPr id="15234664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158749" y="3860131"/>
            <a:ext cx="6785123" cy="3208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07076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3091" y="2414670"/>
            <a:ext cx="7781924" cy="1628775"/>
          </a:xfrm>
          <a:prstGeom prst="rect">
            <a:avLst/>
          </a:prstGeom>
        </p:spPr>
      </p:pic>
      <p:sp>
        <p:nvSpPr>
          <p:cNvPr id="749505763" name=""/>
          <p:cNvSpPr txBox="1"/>
          <p:nvPr/>
        </p:nvSpPr>
        <p:spPr bwMode="auto">
          <a:xfrm flipH="0" flipV="0">
            <a:off x="4562828" y="4043445"/>
            <a:ext cx="34306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IN"/>
              <a:t>Power consumption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17044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3091" y="2414670"/>
            <a:ext cx="7781924" cy="1628775"/>
          </a:xfrm>
          <a:prstGeom prst="rect">
            <a:avLst/>
          </a:prstGeom>
        </p:spPr>
      </p:pic>
      <p:sp>
        <p:nvSpPr>
          <p:cNvPr id="2106023229" name=""/>
          <p:cNvSpPr txBox="1"/>
          <p:nvPr/>
        </p:nvSpPr>
        <p:spPr bwMode="auto">
          <a:xfrm flipH="0" flipV="0">
            <a:off x="4663476" y="5271669"/>
            <a:ext cx="34360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IN"/>
              <a:t>Timing analysis</a:t>
            </a:r>
            <a:endParaRPr/>
          </a:p>
        </p:txBody>
      </p:sp>
      <p:pic>
        <p:nvPicPr>
          <p:cNvPr id="14097808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-959186" y="797675"/>
            <a:ext cx="15210759" cy="4319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50506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4800" b="1"/>
          </a:p>
        </p:txBody>
      </p:sp>
      <p:sp>
        <p:nvSpPr>
          <p:cNvPr id="414389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RTL coding impacts power and timing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Adaptive control improves efficiency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Power-performance trade-off demonstrated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Achieved without datapath changes</a:t>
            </a:r>
            <a:endParaRPr sz="28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Suitable for FPGA implementation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2026-04-10T15:53:08Z</dcterms:modified>
</cp:coreProperties>
</file>